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bf2b718-3527-0f3a-2240-fe61725c77cf}">
          <p14:sldIdLst>
            <p14:sldId id="256"/>
          </p14:sldIdLst>
        </p14:section>
        <p14:section name="Income by age" id="{7587e795-4cdd-0667-7f51-7f1782172c90}">
          <p14:sldIdLst>
            <p14:sldId id="257"/>
            <p14:sldId id="258"/>
          </p14:sldIdLst>
        </p14:section>
        <p14:section name="Spending by gender" id="{983894f5-98c8-9489-45d3-6ad8ad00c786}">
          <p14:sldIdLst>
            <p14:sldId id="259"/>
            <p14:sldId id="260"/>
          </p14:sldIdLst>
        </p14:section>
        <p14:section name="Next steps" id="{bded20c2-5143-6742-8912-7e7d451b44d8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3A"/>
                </a:solidFill>
                <a:latin typeface="+mn-lt"/>
              </a:rPr>
              <a:t>Average monthly income by age band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income</c:v>
                </c:pt>
              </c:strCache>
            </c:strRef>
          </c:tx>
          <c:spPr>
            <a:solidFill>
              <a:srgbClr val="2C6E6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3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2801.82</c:v>
                </c:pt>
                <c:pt idx="1">
                  <c:v>6017.86</c:v>
                </c:pt>
                <c:pt idx="2">
                  <c:v>8754.86</c:v>
                </c:pt>
                <c:pt idx="3">
                  <c:v>9522.89</c:v>
                </c:pt>
                <c:pt idx="4">
                  <c:v>8611.14</c:v>
                </c:pt>
                <c:pt idx="5">
                  <c:v>5805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3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AE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3A"/>
                </a:solidFill>
                <a:latin typeface="+mn-lt"/>
              </a:rPr>
              <a:t>Average monthly income, top 10 single ages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income</c:v>
                </c:pt>
              </c:strCache>
            </c:strRef>
          </c:tx>
          <c:spPr>
            <a:solidFill>
              <a:srgbClr val="2C6E6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C6E6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0A33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Age 42</c:v>
                  </c:pt>
                  <c:pt idx="1">
                    <c:v>Age 63</c:v>
                  </c:pt>
                  <c:pt idx="2">
                    <c:v>Age 53</c:v>
                  </c:pt>
                  <c:pt idx="3">
                    <c:v>Age 50</c:v>
                  </c:pt>
                  <c:pt idx="4">
                    <c:v>Age 39</c:v>
                  </c:pt>
                  <c:pt idx="5">
                    <c:v>Age 56</c:v>
                  </c:pt>
                  <c:pt idx="6">
                    <c:v>Age 54</c:v>
                  </c:pt>
                  <c:pt idx="7">
                    <c:v>Age 43</c:v>
                  </c:pt>
                  <c:pt idx="8">
                    <c:v>Age 48</c:v>
                  </c:pt>
                  <c:pt idx="9">
                    <c:v>Age 52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9432.5</c:v>
                </c:pt>
                <c:pt idx="1">
                  <c:v>9645</c:v>
                </c:pt>
                <c:pt idx="2">
                  <c:v>9673.33</c:v>
                </c:pt>
                <c:pt idx="3">
                  <c:v>9745</c:v>
                </c:pt>
                <c:pt idx="4">
                  <c:v>10320</c:v>
                </c:pt>
                <c:pt idx="5">
                  <c:v>10457.5</c:v>
                </c:pt>
                <c:pt idx="6">
                  <c:v>10490</c:v>
                </c:pt>
                <c:pt idx="7">
                  <c:v>10960</c:v>
                </c:pt>
                <c:pt idx="8">
                  <c:v>11050</c:v>
                </c:pt>
                <c:pt idx="9">
                  <c:v>11235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3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3EAE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3A"/>
                </a:solidFill>
                <a:latin typeface="+mn-lt"/>
              </a:rPr>
              <a:t>Participants spending in each category,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2C6E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Entertainment</c:v>
                  </c:pt>
                  <c:pt idx="2">
                    <c:v>School Fees</c:v>
                  </c:pt>
                  <c:pt idx="3">
                    <c:v>Shopping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</c:v>
                </c:pt>
                <c:pt idx="1">
                  <c:v>81</c:v>
                </c:pt>
                <c:pt idx="2">
                  <c:v>23</c:v>
                </c:pt>
                <c:pt idx="3">
                  <c:v>95</c:v>
                </c:pt>
                <c:pt idx="4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E0A3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Entertainment</c:v>
                  </c:pt>
                  <c:pt idx="2">
                    <c:v>School Fees</c:v>
                  </c:pt>
                  <c:pt idx="3">
                    <c:v>Shopping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</c:v>
                </c:pt>
                <c:pt idx="1">
                  <c:v>53</c:v>
                </c:pt>
                <c:pt idx="2">
                  <c:v>14</c:v>
                </c:pt>
                <c:pt idx="3">
                  <c:v>73</c:v>
                </c:pt>
                <c:pt idx="4">
                  <c:v>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Non-binary</c:v>
                </c:pt>
              </c:strCache>
            </c:strRef>
          </c:tx>
          <c:spPr>
            <a:solidFill>
              <a:srgbClr val="7A5C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Entertainment</c:v>
                  </c:pt>
                  <c:pt idx="2">
                    <c:v>School Fees</c:v>
                  </c:pt>
                  <c:pt idx="3">
                    <c:v>Shopping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</c:v>
                </c:pt>
                <c:pt idx="1">
                  <c:v>11</c:v>
                </c:pt>
                <c:pt idx="2">
                  <c:v>3</c:v>
                </c:pt>
                <c:pt idx="3">
                  <c:v>13</c:v>
                </c:pt>
                <c:pt idx="4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Prefer not to say</c:v>
                </c:pt>
              </c:strCache>
            </c:strRef>
          </c:tx>
          <c:spPr>
            <a:solidFill>
              <a:srgbClr val="9AA5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Entertainment</c:v>
                  </c:pt>
                  <c:pt idx="2">
                    <c:v>School Fees</c:v>
                  </c:pt>
                  <c:pt idx="3">
                    <c:v>Shopping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3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2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3A"/>
                </a:solidFill>
                <a:latin typeface="+mn-lt"/>
              </a:rPr>
              <a:t>Average monthly spend per category, by gender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2C6E6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Entertainment</c:v>
                  </c:pt>
                  <c:pt idx="2">
                    <c:v>School Fees</c:v>
                  </c:pt>
                  <c:pt idx="3">
                    <c:v>Shopping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549.49</c:v>
                </c:pt>
                <c:pt idx="1">
                  <c:v>356.54</c:v>
                </c:pt>
                <c:pt idx="2">
                  <c:v>701.48</c:v>
                </c:pt>
                <c:pt idx="3">
                  <c:v>676.96</c:v>
                </c:pt>
                <c:pt idx="4">
                  <c:v>612.21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E0A33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Entertainment</c:v>
                  </c:pt>
                  <c:pt idx="2">
                    <c:v>School Fees</c:v>
                  </c:pt>
                  <c:pt idx="3">
                    <c:v>Shopping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580.36</c:v>
                </c:pt>
                <c:pt idx="1">
                  <c:v>435.84</c:v>
                </c:pt>
                <c:pt idx="2">
                  <c:v>861.11</c:v>
                </c:pt>
                <c:pt idx="3">
                  <c:v>661.77</c:v>
                </c:pt>
                <c:pt idx="4">
                  <c:v>532.72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Non-binary</c:v>
                </c:pt>
              </c:strCache>
            </c:strRef>
          </c:tx>
          <c:spPr>
            <a:solidFill>
              <a:srgbClr val="7A5C99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Entertainment</c:v>
                  </c:pt>
                  <c:pt idx="2">
                    <c:v>School Fees</c:v>
                  </c:pt>
                  <c:pt idx="3">
                    <c:v>Shopping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669.38</c:v>
                </c:pt>
                <c:pt idx="1">
                  <c:v>379.57</c:v>
                </c:pt>
                <c:pt idx="2">
                  <c:v>773.22</c:v>
                </c:pt>
                <c:pt idx="3">
                  <c:v>737.69</c:v>
                </c:pt>
                <c:pt idx="4">
                  <c:v>564.46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3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AE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8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2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summarizes the income and spending survey run ahead of the healthcare product launch. It answers two questions: which ages earn the most, and how spending categories split by gender.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monthly income is highest for participants aged 45-54, at about $9,523. The 35-44 and 55-64 bands are close behind. Younger and 65+ participants earn much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ages give a sharper list but small groups. Treat this as supporting detail for the age band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144 of 200 participants reported healthcare spending. Female participants are the largest group in the sample, which is why their bars are tallest in every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Averages include only people who spend in each category. The 'Prefer not to say' group has fewer than ten people, so it is left out of this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Recommendation: prioritize participants aged 35 to 64 and lead healthcare messaging with female buyers. Before final launch decisions, grow the sample, especially non-binary and 'prefer not to say'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9D3D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1"/>
                </a:solidFill>
              </a:rPr>
              <a:t>Prepared by Brittney Everson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86D"/>
                </a:solidFill>
              </a:rPr>
              <a:t>Brittney Everson  |  Survey sample, n=200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Who earns and who spends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D1"/>
                </a:solidFill>
              </a:rPr>
              <a:t>Income and spending survey for the healthcare product launch (n=200)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Income peaks in the 45–54 age band</a:t>
            </a:r>
            <a:endParaRPr lang="en-US" sz="3600" dirty="0"/>
          </a:p>
        </p:txBody>
      </p:sp>
      <p:graphicFrame>
        <p:nvGraphicFramePr>
          <p:cNvPr id="3" name="Income by age band chart" descr=""/>
          <p:cNvGraphicFramePr/>
          <p:nvPr/>
        </p:nvGraphicFramePr>
        <p:xfrm>
          <a:off x="54864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p band card"/>
          <p:cNvSpPr/>
          <p:nvPr/>
        </p:nvSpPr>
        <p:spPr>
          <a:xfrm>
            <a:off x="8503920" y="1463040"/>
            <a:ext cx="3108960" cy="466344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op band stat"/>
          <p:cNvSpPr txBox="1"/>
          <p:nvPr/>
        </p:nvSpPr>
        <p:spPr>
          <a:xfrm>
            <a:off x="877824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$9,523</a:t>
            </a:r>
            <a:endParaRPr lang="en-US" sz="4000" dirty="0"/>
          </a:p>
        </p:txBody>
      </p:sp>
      <p:sp>
        <p:nvSpPr>
          <p:cNvPr id="6" name="Top band label"/>
          <p:cNvSpPr txBox="1"/>
          <p:nvPr/>
        </p:nvSpPr>
        <p:spPr>
          <a:xfrm>
            <a:off x="87782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Avg monthly income, 45-54</a:t>
            </a:r>
            <a:endParaRPr lang="en-US" sz="1400" dirty="0"/>
          </a:p>
        </p:txBody>
      </p:sp>
      <p:sp>
        <p:nvSpPr>
          <p:cNvPr id="7" name="Top band body"/>
          <p:cNvSpPr txBox="1"/>
          <p:nvPr/>
        </p:nvSpPr>
        <p:spPr>
          <a:xfrm>
            <a:off x="8778240" y="31089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86D"/>
                </a:solidFill>
              </a:rPr>
              <a:t>Income rises steeply from the mid-20s and holds above $8,500 from 35 to 64. This is the strongest buying group for a paid product.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ten highest-earning ages</a:t>
            </a:r>
            <a:endParaRPr lang="en-US" sz="3600" dirty="0"/>
          </a:p>
        </p:txBody>
      </p:sp>
      <p:graphicFrame>
        <p:nvGraphicFramePr>
          <p:cNvPr id="3" name="Top ages chart" descr=""/>
          <p:cNvGraphicFramePr/>
          <p:nvPr/>
        </p:nvGraphicFramePr>
        <p:xfrm>
          <a:off x="54864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p age card"/>
          <p:cNvSpPr/>
          <p:nvPr/>
        </p:nvSpPr>
        <p:spPr>
          <a:xfrm>
            <a:off x="8503920" y="1463040"/>
            <a:ext cx="3108960" cy="466344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op age stat"/>
          <p:cNvSpPr txBox="1"/>
          <p:nvPr/>
        </p:nvSpPr>
        <p:spPr>
          <a:xfrm>
            <a:off x="877824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52</a:t>
            </a:r>
            <a:endParaRPr lang="en-US" sz="4000" dirty="0"/>
          </a:p>
        </p:txBody>
      </p:sp>
      <p:sp>
        <p:nvSpPr>
          <p:cNvPr id="6" name="Top age label"/>
          <p:cNvSpPr txBox="1"/>
          <p:nvPr/>
        </p:nvSpPr>
        <p:spPr>
          <a:xfrm>
            <a:off x="87782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Highest average income, $11,235</a:t>
            </a:r>
            <a:endParaRPr lang="en-US" sz="1400" dirty="0"/>
          </a:p>
        </p:txBody>
      </p:sp>
      <p:sp>
        <p:nvSpPr>
          <p:cNvPr id="7" name="Top age body"/>
          <p:cNvSpPr txBox="1"/>
          <p:nvPr/>
        </p:nvSpPr>
        <p:spPr>
          <a:xfrm>
            <a:off x="8778240" y="31089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86D"/>
                </a:solidFill>
              </a:rPr>
              <a:t>Nine of the top ten ages fall between 39 and 56. Some ages have only one or two people, so use the age-band view for planning.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Healthcare spending is common across groups</a:t>
            </a:r>
            <a:endParaRPr lang="en-US" sz="3600" dirty="0"/>
          </a:p>
        </p:txBody>
      </p:sp>
      <p:graphicFrame>
        <p:nvGraphicFramePr>
          <p:cNvPr id="3" name="Gender by category count chart" descr=""/>
          <p:cNvGraphicFramePr/>
          <p:nvPr/>
        </p:nvGraphicFramePr>
        <p:xfrm>
          <a:off x="54864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ealthcare reach card"/>
          <p:cNvSpPr/>
          <p:nvPr/>
        </p:nvSpPr>
        <p:spPr>
          <a:xfrm>
            <a:off x="8503920" y="1463040"/>
            <a:ext cx="3108960" cy="466344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lthcare reach stat"/>
          <p:cNvSpPr txBox="1"/>
          <p:nvPr/>
        </p:nvSpPr>
        <p:spPr>
          <a:xfrm>
            <a:off x="877824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6" name="Healthcare reach label"/>
          <p:cNvSpPr txBox="1"/>
          <p:nvPr/>
        </p:nvSpPr>
        <p:spPr>
          <a:xfrm>
            <a:off x="87782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 participants spend on healthcare</a:t>
            </a:r>
            <a:endParaRPr lang="en-US" sz="1400" dirty="0"/>
          </a:p>
        </p:txBody>
      </p:sp>
      <p:sp>
        <p:nvSpPr>
          <p:cNvPr id="7" name="Healthcare reach body"/>
          <p:cNvSpPr txBox="1"/>
          <p:nvPr/>
        </p:nvSpPr>
        <p:spPr>
          <a:xfrm>
            <a:off x="8778240" y="31089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86D"/>
                </a:solidFill>
              </a:rPr>
              <a:t>Utilities and shopping are near-universal. Healthcare reaches most participants in every gender group, so the market is broad.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Women spend the most on healthcare</a:t>
            </a:r>
            <a:endParaRPr lang="en-US" sz="3600" dirty="0"/>
          </a:p>
        </p:txBody>
      </p:sp>
      <p:graphicFrame>
        <p:nvGraphicFramePr>
          <p:cNvPr id="3" name="Avg spend by gender chart" descr=""/>
          <p:cNvGraphicFramePr/>
          <p:nvPr/>
        </p:nvGraphicFramePr>
        <p:xfrm>
          <a:off x="54864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emale healthcare card"/>
          <p:cNvSpPr/>
          <p:nvPr/>
        </p:nvSpPr>
        <p:spPr>
          <a:xfrm>
            <a:off x="8503920" y="1463040"/>
            <a:ext cx="3108960" cy="466344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emale healthcare stat"/>
          <p:cNvSpPr txBox="1"/>
          <p:nvPr/>
        </p:nvSpPr>
        <p:spPr>
          <a:xfrm>
            <a:off x="877824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$612</a:t>
            </a:r>
            <a:endParaRPr lang="en-US" sz="4000" dirty="0"/>
          </a:p>
        </p:txBody>
      </p:sp>
      <p:sp>
        <p:nvSpPr>
          <p:cNvPr id="6" name="Female healthcare label"/>
          <p:cNvSpPr txBox="1"/>
          <p:nvPr/>
        </p:nvSpPr>
        <p:spPr>
          <a:xfrm>
            <a:off x="87782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Avg monthly healthcare spend, female</a:t>
            </a:r>
            <a:endParaRPr lang="en-US" sz="1400" dirty="0"/>
          </a:p>
        </p:txBody>
      </p:sp>
      <p:sp>
        <p:nvSpPr>
          <p:cNvPr id="7" name="Female healthcare body"/>
          <p:cNvSpPr txBox="1"/>
          <p:nvPr/>
        </p:nvSpPr>
        <p:spPr>
          <a:xfrm>
            <a:off x="8778240" y="31089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86D"/>
                </a:solidFill>
              </a:rPr>
              <a:t>About $79 more per month than male participants. Men spend more on entertainment and school fees.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Target ages 35–64, lead with women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9D3D1"/>
                </a:solidFill>
              </a:rPr>
              <a:t>Focus launch spend on the highest-income age bands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9D3D1"/>
                </a:solidFill>
              </a:rPr>
              <a:t>Position healthcare messaging toward female buyers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9D3D1"/>
                </a:solidFill>
              </a:rPr>
              <a:t>Collect more responses from smaller groups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rvey Insights">
  <a:themeElements>
    <a:clrScheme name="Survey Insights">
      <a:dk1>
        <a:srgbClr val="17323A"/>
      </a:dk1>
      <a:lt1>
        <a:srgbClr val="FFFFFF"/>
      </a:lt1>
      <a:dk2>
        <a:srgbClr val="2C6E63"/>
      </a:dk2>
      <a:lt2>
        <a:srgbClr val="EEF4F2"/>
      </a:lt2>
      <a:accent1>
        <a:srgbClr val="2C6E63"/>
      </a:accent1>
      <a:accent2>
        <a:srgbClr val="E0A33B"/>
      </a:accent2>
      <a:accent3>
        <a:srgbClr val="7A5C99"/>
      </a:accent3>
      <a:accent4>
        <a:srgbClr val="9AA5A8"/>
      </a:accent4>
      <a:accent5>
        <a:srgbClr val="17323A"/>
      </a:accent5>
      <a:accent6>
        <a:srgbClr val="C9D3D1"/>
      </a:accent6>
      <a:hlink>
        <a:srgbClr val="2C6E63"/>
      </a:hlink>
      <a:folHlink>
        <a:srgbClr val="7A5C99"/>
      </a:folHlink>
    </a:clrScheme>
    <a:fontScheme name="Survey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Income &amp; Spending Survey: Client Insights</dc:title>
  <dc:subject>PptxGenJS Presentation</dc:subject>
  <dc:creator>Brittney Everson</dc:creator>
  <cp:lastModifiedBy>Brittney Everson</cp:lastModifiedBy>
  <cp:revision>1</cp:revision>
  <dcterms:created xsi:type="dcterms:W3CDTF">2026-10-27T04:19:24Z</dcterms:created>
  <dcterms:modified xsi:type="dcterms:W3CDTF">2026-10-27T04:19:24Z</dcterms:modified>
</cp:coreProperties>
</file>